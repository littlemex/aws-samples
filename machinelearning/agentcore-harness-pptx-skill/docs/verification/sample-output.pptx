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Lead with the conclusion: the model is not the problem.</a:t>
            </a:r>
          </a:p>
          <a:p>
            <a:r>
              <a:t>Bedrock Inference can plan a deck but cannot write one to disk.</a:t>
            </a:r>
          </a:p>
          <a:p>
            <a:r>
              <a:t>AgentCore Harness supplies the sandbox that closes the gap.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skill file is just text — it has no runtime of its own.</a:t>
            </a:r>
          </a:p>
          <a:p>
            <a:r>
              <a:t>The scripts and assets travel with the skill as files.</a:t>
            </a:r>
          </a:p>
          <a:p>
            <a:r>
              <a:t>The sandbox is what the harness contributes; without it the script can never execute.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Skills are attached as a list — order matters when names collide.</a:t>
            </a:r>
          </a:p>
          <a:p>
            <a:r>
              <a:t>The published pptx skill handles python-pptx mechanics.</a:t>
            </a:r>
          </a:p>
          <a:p>
            <a:r>
              <a:t>The corporate skill supplies the house style and the JSON spec format.</a:t>
            </a:r>
          </a:p>
          <a:p>
            <a:r>
              <a:t>Neither skill needs to be rewritten to work alongside the other.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Decide the exit path for the file before building — it affects the harness configuration.</a:t>
            </a:r>
          </a:p>
          <a:p>
            <a:r>
              <a:t>Session storage is the fastest path to get started.</a:t>
            </a:r>
          </a:p>
          <a:p>
            <a:r>
              <a:t>Mount an S3 Files access point when an application needs to serve the resulting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75" y="323850"/>
            <a:ext cx="11372545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F81BD"/>
                </a:solidFill>
                <a:latin typeface="Calibri"/>
                <a:ea typeface="ＭＳ Ｐゴシック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9575" y="571500"/>
            <a:ext cx="11372545" cy="4204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000000"/>
                </a:solidFill>
                <a:latin typeface="Calibri"/>
                <a:ea typeface="ＭＳ Ｐゴシック"/>
              </a:rPr>
              <a:t>Without AgentCore Harness the pptx skill cannot run on Amazon Bedrock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9575" y="1049080"/>
            <a:ext cx="11372545" cy="2647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737373"/>
                </a:solidFill>
                <a:latin typeface="Calibri"/>
                <a:ea typeface="ＭＳ Ｐゴシック"/>
              </a:rPr>
              <a:t>The model is not the missing piece — a code execution environment 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09575" y="1809750"/>
            <a:ext cx="5591022" cy="1500488"/>
          </a:xfrm>
          <a:prstGeom prst="roundRect">
            <a:avLst>
              <a:gd name="adj" fmla="val 4000"/>
            </a:avLst>
          </a:prstGeom>
          <a:solidFill>
            <a:srgbClr val="E6E6E6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00075" y="2000250"/>
            <a:ext cx="5210022" cy="2958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000000"/>
                </a:solidFill>
                <a:latin typeface="Calibri"/>
                <a:ea typeface="ＭＳ Ｐゴシック"/>
              </a:rPr>
              <a:t>What Bedrock alone provides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0075" y="2372308"/>
            <a:ext cx="5210022" cy="7474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737373"/>
                </a:solidFill>
                <a:latin typeface="Calibri"/>
                <a:ea typeface="ＭＳ Ｐゴシック"/>
              </a:rPr>
              <a:t>Inference: the model reads the prompt, reasons about it, and returns text. No file system, no shell, no way to execute python-pptx.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1098" y="1809750"/>
            <a:ext cx="5591022" cy="1500488"/>
          </a:xfrm>
          <a:prstGeom prst="roundRect">
            <a:avLst>
              <a:gd name="adj" fmla="val 4000"/>
            </a:avLst>
          </a:prstGeom>
          <a:solidFill>
            <a:srgbClr val="E6E6E6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381598" y="2000250"/>
            <a:ext cx="5210022" cy="2958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000000"/>
                </a:solidFill>
                <a:latin typeface="Calibri"/>
                <a:ea typeface="ＭＳ Ｐゴシック"/>
              </a:rPr>
              <a:t>What AgentCore Harness adds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81598" y="2372308"/>
            <a:ext cx="5210022" cy="7474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737373"/>
                </a:solidFill>
                <a:latin typeface="Calibri"/>
                <a:ea typeface="ＭＳ Ｐゴシック"/>
              </a:rPr>
              <a:t>An isolated sandbox with a real file system, a Python runtime, and a file exchange path — everything python-pptx needs to produce a .pptx.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9575" y="3462638"/>
            <a:ext cx="11372545" cy="607615"/>
          </a:xfrm>
          <a:prstGeom prst="roundRect">
            <a:avLst>
              <a:gd name="adj" fmla="val 2000"/>
            </a:avLst>
          </a:prstGeom>
          <a:solidFill>
            <a:srgbClr val="DFE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409575" y="3462638"/>
            <a:ext cx="47625" cy="607615"/>
          </a:xfrm>
          <a:prstGeom prst="roundRect">
            <a:avLst>
              <a:gd name="adj" fmla="val 0"/>
            </a:avLst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7225" y="3634088"/>
            <a:ext cx="10953445" cy="2647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000000"/>
                </a:solidFill>
                <a:latin typeface="Calibri"/>
                <a:ea typeface="ＭＳ Ｐゴシック"/>
              </a:rPr>
              <a:t>If inference works but no file is produced, the execution environment is missing.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75" y="323850"/>
            <a:ext cx="11372545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F81BD"/>
                </a:solidFill>
                <a:latin typeface="Calibri"/>
                <a:ea typeface="ＭＳ Ｐゴシック"/>
              </a:rPr>
              <a:t>ANATOMY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9575" y="571500"/>
            <a:ext cx="11372545" cy="4204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000000"/>
                </a:solidFill>
                <a:latin typeface="Calibri"/>
                <a:ea typeface="ＭＳ Ｐゴシック"/>
              </a:rPr>
              <a:t>A skill has three layers — only the first two travel without a harness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09575" y="1809750"/>
          <a:ext cx="11372545" cy="1634004"/>
        </p:xfrm>
        <a:graphic>
          <a:graphicData uri="http://schemas.openxmlformats.org/drawingml/2006/table">
            <a:tbl>
              <a:tblPr firstRow="0" bandRow="0"/>
              <a:tblGrid>
                <a:gridCol w="2501960"/>
                <a:gridCol w="4549018"/>
                <a:gridCol w="4321567"/>
              </a:tblGrid>
              <a:tr h="408501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4F81BD"/>
                          </a:solidFill>
                          <a:latin typeface="Calibri"/>
                          <a:ea typeface="ＭＳ Ｐゴシック"/>
                        </a:rPr>
                        <a:t>Layer</a:t>
                      </a:r>
                    </a:p>
                  </a:txBody>
                  <a:tcPr marL="95250" marR="95250" marT="57150" marB="57150" anchor="ctr">
                    <a:solidFill>
                      <a:srgbClr val="DFE8F3"/>
                    </a:solidFill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4F81BD"/>
                          </a:solidFill>
                          <a:latin typeface="Calibri"/>
                          <a:ea typeface="ＭＳ Ｐゴシック"/>
                        </a:rPr>
                        <a:t>What it is</a:t>
                      </a:r>
                    </a:p>
                  </a:txBody>
                  <a:tcPr marL="95250" marR="95250" marT="57150" marB="57150" anchor="ctr">
                    <a:solidFill>
                      <a:srgbClr val="DFE8F3"/>
                    </a:solidFill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4F81BD"/>
                          </a:solidFill>
                          <a:latin typeface="Calibri"/>
                          <a:ea typeface="ＭＳ Ｐゴシック"/>
                        </a:rPr>
                        <a:t>Portable without a harness?</a:t>
                      </a:r>
                    </a:p>
                  </a:txBody>
                  <a:tcPr marL="95250" marR="95250" marT="57150" marB="57150" anchor="ctr">
                    <a:solidFill>
                      <a:srgbClr val="DFE8F3"/>
                    </a:solidFill>
                    <a:lnB w="9525">
                      <a:solidFill>
                        <a:srgbClr val="BFBFBF"/>
                      </a:solidFill>
                    </a:lnB>
                  </a:tcPr>
                </a:tc>
              </a:tr>
              <a:tr h="408501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Calibri"/>
                          <a:ea typeface="ＭＳ Ｐゴシック"/>
                        </a:rPr>
                        <a:t>1. SKILL.md</a:t>
                      </a:r>
                    </a:p>
                  </a:txBody>
                  <a:tcPr marL="95250" marR="95250" marT="57150" marB="57150" anchor="ctr">
                    <a:noFill/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Calibri"/>
                          <a:ea typeface="ＭＳ Ｐゴシック"/>
                        </a:rPr>
                        <a:t>Markdown instructions the model loads at runtime</a:t>
                      </a:r>
                    </a:p>
                  </a:txBody>
                  <a:tcPr marL="95250" marR="95250" marT="57150" marB="57150" anchor="ctr">
                    <a:noFill/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Calibri"/>
                          <a:ea typeface="ＭＳ Ｐゴシック"/>
                        </a:rPr>
                        <a:t>Yes — stored in Git or Amazon S3</a:t>
                      </a:r>
                    </a:p>
                  </a:txBody>
                  <a:tcPr marL="95250" marR="95250" marT="57150" marB="57150" anchor="ctr">
                    <a:noFill/>
                    <a:lnB w="9525">
                      <a:solidFill>
                        <a:srgbClr val="BFBFBF"/>
                      </a:solidFill>
                    </a:lnB>
                  </a:tcPr>
                </a:tc>
              </a:tr>
              <a:tr h="408501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Calibri"/>
                          <a:ea typeface="ＭＳ Ｐゴシック"/>
                        </a:rPr>
                        <a:t>2. scripts and assets</a:t>
                      </a:r>
                    </a:p>
                  </a:txBody>
                  <a:tcPr marL="95250" marR="95250" marT="57150" marB="57150" anchor="ctr">
                    <a:noFill/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Calibri"/>
                          <a:ea typeface="ＭＳ Ｐゴシック"/>
                        </a:rPr>
                        <a:t>python-pptx code, templates, and fonts</a:t>
                      </a:r>
                    </a:p>
                  </a:txBody>
                  <a:tcPr marL="95250" marR="95250" marT="57150" marB="57150" anchor="ctr">
                    <a:noFill/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Calibri"/>
                          <a:ea typeface="ＭＳ Ｐゴシック"/>
                        </a:rPr>
                        <a:t>Yes — bundled alongside SKILL.md</a:t>
                      </a:r>
                    </a:p>
                  </a:txBody>
                  <a:tcPr marL="95250" marR="95250" marT="57150" marB="57150" anchor="ctr">
                    <a:noFill/>
                    <a:lnB w="9525">
                      <a:solidFill>
                        <a:srgbClr val="BFBFBF"/>
                      </a:solidFill>
                    </a:lnB>
                  </a:tcPr>
                </a:tc>
              </a:tr>
              <a:tr h="408501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Calibri"/>
                          <a:ea typeface="ＭＳ Ｐゴシック"/>
                        </a:rPr>
                        <a:t>3. Sandbox</a:t>
                      </a:r>
                    </a:p>
                  </a:txBody>
                  <a:tcPr marL="95250" marR="95250" marT="57150" marB="57150" anchor="ctr">
                    <a:noFill/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Calibri"/>
                          <a:ea typeface="ＭＳ Ｐゴシック"/>
                        </a:rPr>
                        <a:t>File system, Python runtime, and file exchange path</a:t>
                      </a:r>
                    </a:p>
                  </a:txBody>
                  <a:tcPr marL="95250" marR="95250" marT="57150" marB="57150" anchor="ctr">
                    <a:noFill/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Calibri"/>
                          <a:ea typeface="ＭＳ Ｐゴシック"/>
                        </a:rPr>
                        <a:t>No — supplied by the host environment</a:t>
                      </a:r>
                    </a:p>
                  </a:txBody>
                  <a:tcPr marL="95250" marR="95250" marT="57150" marB="57150" anchor="ctr">
                    <a:noFill/>
                    <a:lnB w="9525">
                      <a:solidFill>
                        <a:srgbClr val="BFBFBF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09575" y="3596152"/>
            <a:ext cx="209550" cy="2647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4F81BD"/>
                </a:solidFill>
                <a:latin typeface="Calibri"/>
                <a:ea typeface="ＭＳ Ｐゴシック"/>
              </a:rPr>
              <a:t>-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9125" y="3596152"/>
            <a:ext cx="11162995" cy="2647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Calibri"/>
                <a:ea typeface="ＭＳ Ｐゴシック"/>
              </a:rPr>
              <a:t>Layers 1 and 2 are the published skill; they run anywhere.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9575" y="3918017"/>
            <a:ext cx="209550" cy="2647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4F81BD"/>
                </a:solidFill>
                <a:latin typeface="Calibri"/>
                <a:ea typeface="ＭＳ Ｐゴシック"/>
              </a:rPr>
              <a:t>-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9125" y="3918017"/>
            <a:ext cx="11162995" cy="2647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Calibri"/>
                <a:ea typeface="ＭＳ Ｐゴシック"/>
              </a:rPr>
              <a:t>Layer 3 is a place, not a payload — AgentCore Harness is that place on Amazon Bedrock.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75" y="323850"/>
            <a:ext cx="11372545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F81BD"/>
                </a:solidFill>
                <a:latin typeface="Calibri"/>
                <a:ea typeface="ＭＳ Ｐゴシック"/>
              </a:rPr>
              <a:t>WIRING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9575" y="571500"/>
            <a:ext cx="11372545" cy="3892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>
                <a:solidFill>
                  <a:srgbClr val="000000"/>
                </a:solidFill>
                <a:latin typeface="Calibri"/>
                <a:ea typeface="ＭＳ Ｐゴシック"/>
              </a:rPr>
              <a:t>Attach the corporate template skill alongside the pptx skill at invoke 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9575" y="1017937"/>
            <a:ext cx="11372545" cy="2647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737373"/>
                </a:solidFill>
                <a:latin typeface="Calibri"/>
                <a:ea typeface="ＭＳ Ｐゴシック"/>
              </a:rPr>
              <a:t>Two skills are listed in one invoke call — each owns a different concern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09575" y="1809750"/>
            <a:ext cx="11372545" cy="2663049"/>
          </a:xfrm>
          <a:prstGeom prst="roundRect">
            <a:avLst>
              <a:gd name="adj" fmla="val 3000"/>
            </a:avLst>
          </a:prstGeom>
          <a:solidFill>
            <a:srgbClr val="E6E6E6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1975" y="1962150"/>
            <a:ext cx="11067745" cy="2180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F81BD"/>
                </a:solidFill>
                <a:latin typeface="Calibri"/>
                <a:ea typeface="ＭＳ Ｐゴシック"/>
              </a:rPr>
              <a:t>invoke_harness (Python, boto3)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1975" y="2218251"/>
            <a:ext cx="11067745" cy="21021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000000"/>
                </a:solidFill>
                <a:latin typeface="Consolas"/>
                <a:ea typeface="Consolas"/>
              </a:rPr>
              <a:t>response = client.invoke_harness(</a:t>
            </a:r>
          </a:p>
          <a:p>
            <a:pPr algn="l"/>
            <a:r>
              <a:rPr sz="1500" b="0">
                <a:solidFill>
                  <a:srgbClr val="000000"/>
                </a:solidFill>
                <a:latin typeface="Consolas"/>
                <a:ea typeface="Consolas"/>
              </a:rPr>
              <a:t>    harnessArn=HARNESS_ARN,</a:t>
            </a:r>
          </a:p>
          <a:p>
            <a:pPr algn="l"/>
            <a:r>
              <a:rPr sz="1500" b="0">
                <a:solidFill>
                  <a:srgbClr val="000000"/>
                </a:solidFill>
                <a:latin typeface="Consolas"/>
                <a:ea typeface="Consolas"/>
              </a:rPr>
              <a:t>    runtimeSessionId=SESSION_ID,</a:t>
            </a:r>
          </a:p>
          <a:p>
            <a:pPr algn="l"/>
            <a:r>
              <a:rPr sz="1500" b="0">
                <a:solidFill>
                  <a:srgbClr val="000000"/>
                </a:solidFill>
                <a:latin typeface="Consolas"/>
                <a:ea typeface="Consolas"/>
              </a:rPr>
              <a:t>    skills=[</a:t>
            </a:r>
          </a:p>
          <a:p>
            <a:pPr algn="l"/>
            <a:r>
              <a:rPr sz="1500" b="0">
                <a:solidFill>
                  <a:srgbClr val="000000"/>
                </a:solidFill>
                <a:latin typeface="Consolas"/>
                <a:ea typeface="Consolas"/>
              </a:rPr>
              <a:t>        {"git": {"url": PPTX_REPO, "path": "skills/pptx"}},</a:t>
            </a:r>
          </a:p>
          <a:p>
            <a:pPr algn="l"/>
            <a:r>
              <a:rPr sz="1500" b="0">
                <a:solidFill>
                  <a:srgbClr val="000000"/>
                </a:solidFill>
                <a:latin typeface="Consolas"/>
                <a:ea typeface="Consolas"/>
              </a:rPr>
              <a:t>        {"s3":  {"uri": CORPORATE_SKILL_S3_URI}},</a:t>
            </a:r>
          </a:p>
          <a:p>
            <a:pPr algn="l"/>
            <a:r>
              <a:rPr sz="1500" b="0">
                <a:solidFill>
                  <a:srgbClr val="000000"/>
                </a:solidFill>
                <a:latin typeface="Consolas"/>
                <a:ea typeface="Consolas"/>
              </a:rPr>
              <a:t>    ],</a:t>
            </a:r>
          </a:p>
          <a:p>
            <a:pPr algn="l"/>
            <a:r>
              <a:rPr sz="1500" b="0">
                <a:solidFill>
                  <a:srgbClr val="000000"/>
                </a:solidFill>
                <a:latin typeface="Consolas"/>
                <a:ea typeface="Consolas"/>
              </a:rPr>
              <a:t>    messages=[{"role": "user", "content": [{"text": PROMPT}]}],</a:t>
            </a:r>
          </a:p>
          <a:p>
            <a:pPr algn="l"/>
            <a:r>
              <a:rPr sz="1500" b="0">
                <a:solidFill>
                  <a:srgbClr val="000000"/>
                </a:solidFill>
                <a:latin typeface="Consolas"/>
                <a:ea typeface="Consolas"/>
              </a:rPr>
              <a:t>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9575" y="4625199"/>
            <a:ext cx="209550" cy="2647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4F81BD"/>
                </a:solidFill>
                <a:latin typeface="Calibri"/>
                <a:ea typeface="ＭＳ Ｐゴシック"/>
              </a:rPr>
              <a:t>-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9125" y="4625199"/>
            <a:ext cx="11162995" cy="2647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Calibri"/>
                <a:ea typeface="ＭＳ Ｐゴシック"/>
              </a:rPr>
              <a:t>The pptx skill owns the file format — build_deck.py and check_deck.py.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9575" y="4947064"/>
            <a:ext cx="209550" cy="2647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4F81BD"/>
                </a:solidFill>
                <a:latin typeface="Calibri"/>
                <a:ea typeface="ＭＳ Ｐゴシック"/>
              </a:rPr>
              <a:t>-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9125" y="4947064"/>
            <a:ext cx="11162995" cy="2647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Calibri"/>
                <a:ea typeface="ＭＳ Ｐゴシック"/>
              </a:rPr>
              <a:t>The corporate skill owns layout and branding — deck.json spec and template.pptx.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9575" y="5268929"/>
            <a:ext cx="209550" cy="2647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4F81BD"/>
                </a:solidFill>
                <a:latin typeface="Calibri"/>
                <a:ea typeface="ＭＳ Ｐゴシック"/>
              </a:rPr>
              <a:t>-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9125" y="5268929"/>
            <a:ext cx="11162995" cy="2647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Calibri"/>
                <a:ea typeface="ＭＳ Ｐゴシック"/>
              </a:rPr>
              <a:t>When both skills define the same name, the invoke-time entry listed last wins.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75" y="323850"/>
            <a:ext cx="11372545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F81BD"/>
                </a:solidFill>
                <a:latin typeface="Calibri"/>
                <a:ea typeface="ＭＳ Ｐゴシック"/>
              </a:rPr>
              <a:t>FILE EXCHANGE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9575" y="571500"/>
            <a:ext cx="11372545" cy="4515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000000"/>
                </a:solidFill>
                <a:latin typeface="Calibri"/>
                <a:ea typeface="ＭＳ Ｐゴシック"/>
              </a:rPr>
              <a:t>Decide how the produced .pptx leaves the sandbox before you build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09575" y="1809750"/>
          <a:ext cx="11372545" cy="2042505"/>
        </p:xfrm>
        <a:graphic>
          <a:graphicData uri="http://schemas.openxmlformats.org/drawingml/2006/table">
            <a:tbl>
              <a:tblPr firstRow="0" bandRow="0"/>
              <a:tblGrid>
                <a:gridCol w="2956862"/>
                <a:gridCol w="3411763"/>
                <a:gridCol w="5003920"/>
              </a:tblGrid>
              <a:tr h="408501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4F81BD"/>
                          </a:solidFill>
                          <a:latin typeface="Calibri"/>
                          <a:ea typeface="ＭＳ Ｐゴシック"/>
                        </a:rPr>
                        <a:t>Mechanism</a:t>
                      </a:r>
                    </a:p>
                  </a:txBody>
                  <a:tcPr marL="95250" marR="95250" marT="57150" marB="57150" anchor="ctr">
                    <a:solidFill>
                      <a:srgbClr val="DFE8F3"/>
                    </a:solidFill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4F81BD"/>
                          </a:solidFill>
                          <a:latin typeface="Calibri"/>
                          <a:ea typeface="ＭＳ Ｐゴシック"/>
                        </a:rPr>
                        <a:t>Where the file lands</a:t>
                      </a:r>
                    </a:p>
                  </a:txBody>
                  <a:tcPr marL="95250" marR="95250" marT="57150" marB="57150" anchor="ctr">
                    <a:solidFill>
                      <a:srgbClr val="DFE8F3"/>
                    </a:solidFill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4F81BD"/>
                          </a:solidFill>
                          <a:latin typeface="Calibri"/>
                          <a:ea typeface="ＭＳ Ｐゴシック"/>
                        </a:rPr>
                        <a:t>Best suited to</a:t>
                      </a:r>
                    </a:p>
                  </a:txBody>
                  <a:tcPr marL="95250" marR="95250" marT="57150" marB="57150" anchor="ctr">
                    <a:solidFill>
                      <a:srgbClr val="DFE8F3"/>
                    </a:solidFill>
                    <a:lnB w="9525">
                      <a:solidFill>
                        <a:srgbClr val="BFBFBF"/>
                      </a:solidFill>
                    </a:lnB>
                  </a:tcPr>
                </a:tc>
              </a:tr>
              <a:tr h="408501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Calibri"/>
                          <a:ea typeface="ＭＳ Ｐゴシック"/>
                        </a:rPr>
                        <a:t>Session storage</a:t>
                      </a:r>
                    </a:p>
                  </a:txBody>
                  <a:tcPr marL="95250" marR="95250" marT="57150" marB="57150" anchor="ctr">
                    <a:noFill/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Calibri"/>
                          <a:ea typeface="ＭＳ Ｐゴシック"/>
                        </a:rPr>
                        <a:t>Service-managed, per session</a:t>
                      </a:r>
                    </a:p>
                  </a:txBody>
                  <a:tcPr marL="95250" marR="95250" marT="57150" marB="57150" anchor="ctr">
                    <a:noFill/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Calibri"/>
                          <a:ea typeface="ＭＳ Ｐゴシック"/>
                        </a:rPr>
                        <a:t>Iterating with the agent — no VPC required</a:t>
                      </a:r>
                    </a:p>
                  </a:txBody>
                  <a:tcPr marL="95250" marR="95250" marT="57150" marB="57150" anchor="ctr">
                    <a:noFill/>
                    <a:lnB w="9525">
                      <a:solidFill>
                        <a:srgbClr val="BFBFBF"/>
                      </a:solidFill>
                    </a:lnB>
                  </a:tcPr>
                </a:tc>
              </a:tr>
              <a:tr h="408501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Calibri"/>
                          <a:ea typeface="ＭＳ Ｐゴシック"/>
                        </a:rPr>
                        <a:t>S3 Files access point</a:t>
                      </a:r>
                    </a:p>
                  </a:txBody>
                  <a:tcPr marL="95250" marR="95250" marT="57150" marB="57150" anchor="ctr">
                    <a:noFill/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Calibri"/>
                          <a:ea typeface="ＭＳ Ｐゴシック"/>
                        </a:rPr>
                        <a:t>Your own S3 bucket</a:t>
                      </a:r>
                    </a:p>
                  </a:txBody>
                  <a:tcPr marL="95250" marR="95250" marT="57150" marB="57150" anchor="ctr">
                    <a:noFill/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Calibri"/>
                          <a:ea typeface="ＭＳ Ｐゴシック"/>
                        </a:rPr>
                        <a:t>Serving the file from an application — VPC required</a:t>
                      </a:r>
                    </a:p>
                  </a:txBody>
                  <a:tcPr marL="95250" marR="95250" marT="57150" marB="57150" anchor="ctr">
                    <a:noFill/>
                    <a:lnB w="9525">
                      <a:solidFill>
                        <a:srgbClr val="BFBFBF"/>
                      </a:solidFill>
                    </a:lnB>
                  </a:tcPr>
                </a:tc>
              </a:tr>
              <a:tr h="408501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Calibri"/>
                          <a:ea typeface="ＭＳ Ｐゴシック"/>
                        </a:rPr>
                        <a:t>EFS access point</a:t>
                      </a:r>
                    </a:p>
                  </a:txBody>
                  <a:tcPr marL="95250" marR="95250" marT="57150" marB="57150" anchor="ctr">
                    <a:noFill/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Calibri"/>
                          <a:ea typeface="ＭＳ Ｐゴシック"/>
                        </a:rPr>
                        <a:t>Your own shared file system</a:t>
                      </a:r>
                    </a:p>
                  </a:txBody>
                  <a:tcPr marL="95250" marR="95250" marT="57150" marB="57150" anchor="ctr">
                    <a:noFill/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Calibri"/>
                          <a:ea typeface="ＭＳ Ｐゴシック"/>
                        </a:rPr>
                        <a:t>Reuse across multiple agents — VPC required</a:t>
                      </a:r>
                    </a:p>
                  </a:txBody>
                  <a:tcPr marL="95250" marR="95250" marT="57150" marB="57150" anchor="ctr">
                    <a:noFill/>
                    <a:lnB w="9525">
                      <a:solidFill>
                        <a:srgbClr val="BFBFBF"/>
                      </a:solidFill>
                    </a:lnB>
                  </a:tcPr>
                </a:tc>
              </a:tr>
              <a:tr h="408501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Calibri"/>
                          <a:ea typeface="ＭＳ Ｐゴシック"/>
                        </a:rPr>
                        <a:t>InvokeAgentRuntimeCommand</a:t>
                      </a:r>
                    </a:p>
                  </a:txBody>
                  <a:tcPr marL="95250" marR="95250" marT="57150" marB="57150" anchor="ctr">
                    <a:noFill/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Calibri"/>
                          <a:ea typeface="ＭＳ Ｐゴシック"/>
                        </a:rPr>
                        <a:t>Streamed to caller stdout</a:t>
                      </a:r>
                    </a:p>
                  </a:txBody>
                  <a:tcPr marL="95250" marR="95250" marT="57150" marB="57150" anchor="ctr">
                    <a:noFill/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Calibri"/>
                          <a:ea typeface="ＭＳ Ｐゴシック"/>
                        </a:rPr>
                        <a:t>Verification and post-processing — no VPC required</a:t>
                      </a:r>
                    </a:p>
                  </a:txBody>
                  <a:tcPr marL="95250" marR="95250" marT="57150" marB="57150" anchor="ctr">
                    <a:noFill/>
                    <a:lnB w="9525">
                      <a:solidFill>
                        <a:srgbClr val="BFBFBF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409575" y="4004653"/>
            <a:ext cx="11372545" cy="872330"/>
          </a:xfrm>
          <a:prstGeom prst="roundRect">
            <a:avLst>
              <a:gd name="adj" fmla="val 2000"/>
            </a:avLst>
          </a:prstGeom>
          <a:solidFill>
            <a:srgbClr val="DFE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409575" y="4004653"/>
            <a:ext cx="47625" cy="872330"/>
          </a:xfrm>
          <a:prstGeom prst="roundRect">
            <a:avLst>
              <a:gd name="adj" fmla="val 0"/>
            </a:avLst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57225" y="4176103"/>
            <a:ext cx="10953445" cy="5294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000000"/>
                </a:solidFill>
                <a:latin typeface="Calibri"/>
                <a:ea typeface="ＭＳ Ｐゴシック"/>
              </a:rPr>
              <a:t>To serve the deck from an application, mount an S3 Files access point and return a presigned URL to the caller.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